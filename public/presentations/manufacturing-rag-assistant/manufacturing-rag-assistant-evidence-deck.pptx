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fce49b943f4938" /><Relationship Type="http://schemas.openxmlformats.org/officeDocument/2006/relationships/extended-properties" Target="/docProps/app.xml" Id="R1348ba49ff4b42a4" /><Relationship Type="http://schemas.openxmlformats.org/officeDocument/2006/relationships/officeDocument" Target="/ppt/presentation.xml" Id="Rca800cff55874a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7e6c7de4b84fe4"/>
  </p:sldMasterIdLst>
  <p:notesMasterIdLst>
    <p:notesMasterId xmlns:r="http://schemas.openxmlformats.org/officeDocument/2006/relationships" r:id="Ra8a91c46094b40dd"/>
  </p:notesMasterIdLst>
  <p:sldIdLst>
    <p:sldId xmlns:r="http://schemas.openxmlformats.org/officeDocument/2006/relationships" id="256" r:id="R8c9d389b1b864c43"/>
    <p:sldId xmlns:r="http://schemas.openxmlformats.org/officeDocument/2006/relationships" id="257" r:id="Rd79d3907bbd04e65"/>
    <p:sldId xmlns:r="http://schemas.openxmlformats.org/officeDocument/2006/relationships" id="258" r:id="Re0c63c1ea40142c3"/>
    <p:sldId xmlns:r="http://schemas.openxmlformats.org/officeDocument/2006/relationships" id="259" r:id="Rfacd1b0f2a2c406e"/>
    <p:sldId xmlns:r="http://schemas.openxmlformats.org/officeDocument/2006/relationships" id="260" r:id="R34e708d2b1314542"/>
    <p:sldId xmlns:r="http://schemas.openxmlformats.org/officeDocument/2006/relationships" id="261" r:id="R57a7557680e946f6"/>
    <p:sldId xmlns:r="http://schemas.openxmlformats.org/officeDocument/2006/relationships" id="262" r:id="Red9c8c1c7014436f"/>
    <p:sldId xmlns:r="http://schemas.openxmlformats.org/officeDocument/2006/relationships" id="263" r:id="R4fd0611bbdf34323"/>
    <p:sldId xmlns:r="http://schemas.openxmlformats.org/officeDocument/2006/relationships" id="264" r:id="R3841cc2c17ca4d59"/>
    <p:sldId xmlns:r="http://schemas.openxmlformats.org/officeDocument/2006/relationships" id="265" r:id="Re124f563041c46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2efe2db21044ce" /><Relationship Type="http://schemas.openxmlformats.org/officeDocument/2006/relationships/slideMaster" Target="/ppt/slideMasters/slideMaster1.xml" Id="Rc77e6c7de4b84fe4" /><Relationship Type="http://schemas.openxmlformats.org/officeDocument/2006/relationships/notesMaster" Target="/ppt/notesMasters/notesMaster1.xml" Id="Ra8a91c46094b40dd" /><Relationship Type="http://schemas.openxmlformats.org/officeDocument/2006/relationships/presProps" Target="/ppt/presProps.xml" Id="Rc760ab27b9054b98" /><Relationship Type="http://schemas.openxmlformats.org/officeDocument/2006/relationships/tableStyles" Target="/ppt/tableStyles.xml" Id="Rfc732521a4914b26" /><Relationship Type="http://schemas.openxmlformats.org/officeDocument/2006/relationships/slide" Target="/ppt/slides/slide1.xml" Id="R8c9d389b1b864c43" /><Relationship Type="http://schemas.openxmlformats.org/officeDocument/2006/relationships/slide" Target="/ppt/slides/slide2.xml" Id="Rd79d3907bbd04e65" /><Relationship Type="http://schemas.openxmlformats.org/officeDocument/2006/relationships/slide" Target="/ppt/slides/slide3.xml" Id="Re0c63c1ea40142c3" /><Relationship Type="http://schemas.openxmlformats.org/officeDocument/2006/relationships/slide" Target="/ppt/slides/slide4.xml" Id="Rfacd1b0f2a2c406e" /><Relationship Type="http://schemas.openxmlformats.org/officeDocument/2006/relationships/slide" Target="/ppt/slides/slide5.xml" Id="R34e708d2b1314542" /><Relationship Type="http://schemas.openxmlformats.org/officeDocument/2006/relationships/slide" Target="/ppt/slides/slide6.xml" Id="R57a7557680e946f6" /><Relationship Type="http://schemas.openxmlformats.org/officeDocument/2006/relationships/slide" Target="/ppt/slides/slide7.xml" Id="Red9c8c1c7014436f" /><Relationship Type="http://schemas.openxmlformats.org/officeDocument/2006/relationships/slide" Target="/ppt/slides/slide8.xml" Id="R4fd0611bbdf34323" /><Relationship Type="http://schemas.openxmlformats.org/officeDocument/2006/relationships/slide" Target="/ppt/slides/slide9.xml" Id="R3841cc2c17ca4d59" /><Relationship Type="http://schemas.openxmlformats.org/officeDocument/2006/relationships/slide" Target="/ppt/slides/slide10.xml" Id="Re124f563041c46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b07d4608934e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51cb55d1e4216" /><Relationship Type="http://schemas.openxmlformats.org/officeDocument/2006/relationships/notesMaster" Target="/ppt/notesMasters/notesMaster1.xml" Id="R655c28fceecf4e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86c16a3fd2465c" /><Relationship Type="http://schemas.openxmlformats.org/officeDocument/2006/relationships/notesMaster" Target="/ppt/notesMasters/notesMaster1.xml" Id="R46b02464d71c47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c0c2fa8661495e" /><Relationship Type="http://schemas.openxmlformats.org/officeDocument/2006/relationships/notesMaster" Target="/ppt/notesMasters/notesMaster1.xml" Id="Rca3591bb49824d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4ea1f438034917" /><Relationship Type="http://schemas.openxmlformats.org/officeDocument/2006/relationships/notesMaster" Target="/ppt/notesMasters/notesMaster1.xml" Id="Rc0d86fdd30fa4a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f703b7454e4d82" /><Relationship Type="http://schemas.openxmlformats.org/officeDocument/2006/relationships/notesMaster" Target="/ppt/notesMasters/notesMaster1.xml" Id="Rb515f801250442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40216cf9894a30" /><Relationship Type="http://schemas.openxmlformats.org/officeDocument/2006/relationships/notesMaster" Target="/ppt/notesMasters/notesMaster1.xml" Id="R3c371536fc5840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525ade6a874a8f" /><Relationship Type="http://schemas.openxmlformats.org/officeDocument/2006/relationships/notesMaster" Target="/ppt/notesMasters/notesMaster1.xml" Id="R51f010fa56964b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0b1f80385845fa" /><Relationship Type="http://schemas.openxmlformats.org/officeDocument/2006/relationships/notesMaster" Target="/ppt/notesMasters/notesMaster1.xml" Id="R37c6e362756844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dea91b1838442c" /><Relationship Type="http://schemas.openxmlformats.org/officeDocument/2006/relationships/notesMaster" Target="/ppt/notesMasters/notesMaster1.xml" Id="Rcac69b03dd5f4f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a6d6e6ad464d65" /><Relationship Type="http://schemas.openxmlformats.org/officeDocument/2006/relationships/notesMaster" Target="/ppt/notesMasters/notesMaster1.xml" Id="R55535e073f1340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https://jehulara-manufacturing-rag-assistant-live.hf.space/</a:t>
            </a:r>
          </a:p>
          <a:p xmlns:a="http://schemas.openxmlformats.org/drawingml/2006/main">
            <a:r>
              <a:t>- Live browser check performed 2026-08-29; screenshot captured from a concise cited answer.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https://github.com/Jehu-Lara/manufacturing-rag-assistant/blob/d2a74aaab14ace82c8e202351cad30fb5a89d79c/README.md</a:t>
            </a:r>
          </a:p>
          <a:p xmlns:a="http://schemas.openxmlformats.org/drawingml/2006/main">
            <a:r>
              <a:t>- https://github.com/Jehu-Lara/manufacturing-rag-assistant/blob/d2a74aaab14ace82c8e202351cad30fb5a89d79c/nginx.conf</a:t>
            </a:r>
          </a:p>
          <a:p xmlns:a="http://schemas.openxmlformats.org/drawingml/2006/main">
            <a:r>
              <a:t>- Live HTTP route check performed 2026-08-29.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https://aclanthology.org/2024.eacl-demo.16/</a:t>
            </a:r>
          </a:p>
          <a:p xmlns:a="http://schemas.openxmlformats.org/drawingml/2006/main">
            <a:r>
              <a:t>- https://cloud.google.com/blog/products/ai-machine-learning/optimizing-rag-retrieval</a:t>
            </a:r>
          </a:p>
          <a:p xmlns:a="http://schemas.openxmlformats.org/drawingml/2006/main">
            <a:r>
              <a:t>- https://github.com/Jehu-Lara/manufacturing-rag-assistant/tree/d2a74aaab14ace82c8e202351cad30fb5a89d79c/reports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https://jehulara-manufacturing-rag-assistant-live.hf.space/</a:t>
            </a:r>
          </a:p>
          <a:p xmlns:a="http://schemas.openxmlformats.org/drawingml/2006/main">
            <a:r>
              <a:t>- Authentic screenshot captured during a live browser check on 2026-08-29.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https://github.com/Jehu-Lara/manufacturing-rag-assistant/tree/d2a74aaab14ace82c8e202351cad30fb5a89d79c</a:t>
            </a:r>
          </a:p>
          <a:p xmlns:a="http://schemas.openxmlformats.org/drawingml/2006/main">
            <a:r>
              <a:t>- https://github.com/Jehu-Lara/manufacturing-rag-assistant/actions/runs/33279877573</a:t>
            </a:r>
          </a:p>
          <a:p xmlns:a="http://schemas.openxmlformats.org/drawingml/2006/main">
            <a:r>
              <a:t>- Scope boundaries supplied and approved by the project owner for portfolio publication.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https://jehulara-manufacturing-rag-assistant-live.hf.space/</a:t>
            </a:r>
          </a:p>
          <a:p xmlns:a="http://schemas.openxmlformats.org/drawingml/2006/main">
            <a:r>
              <a:t>- Live browser check performed 2026-08-29; screenshot captured from a concise cited answer.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https://github.com/Jehu-Lara/manufacturing-rag-assistant/blob/d2a74aaab14ace82c8e202351cad30fb5a89d79c/README.md</a:t>
            </a:r>
          </a:p>
          <a:p xmlns:a="http://schemas.openxmlformats.org/drawingml/2006/main">
            <a:r>
              <a:t>- https://github.com/Jehu-Lara/manufacturing-rag-assistant/blob/d2a74aaab14ace82c8e202351cad30fb5a89d79c/nginx.conf</a:t>
            </a:r>
          </a:p>
          <a:p xmlns:a="http://schemas.openxmlformats.org/drawingml/2006/main">
            <a:r>
              <a:t>- Live HTTP route check performed 2026-08-29.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https://aclanthology.org/2024.eacl-demo.16/</a:t>
            </a:r>
          </a:p>
          <a:p xmlns:a="http://schemas.openxmlformats.org/drawingml/2006/main">
            <a:r>
              <a:t>- https://cloud.google.com/blog/products/ai-machine-learning/optimizing-rag-retrieval</a:t>
            </a:r>
          </a:p>
          <a:p xmlns:a="http://schemas.openxmlformats.org/drawingml/2006/main">
            <a:r>
              <a:t>- https://github.com/Jehu-Lara/manufacturing-rag-assistant/tree/d2a74aaab14ace82c8e202351cad30fb5a89d79c/reports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https://jehulara-manufacturing-rag-assistant-live.hf.space/</a:t>
            </a:r>
          </a:p>
          <a:p xmlns:a="http://schemas.openxmlformats.org/drawingml/2006/main">
            <a:r>
              <a:t>- Authentic screenshot captured during a live browser check on 2026-08-29.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https://github.com/Jehu-Lara/manufacturing-rag-assistant/tree/d2a74aaab14ace82c8e202351cad30fb5a89d79c</a:t>
            </a:r>
          </a:p>
          <a:p xmlns:a="http://schemas.openxmlformats.org/drawingml/2006/main">
            <a:r>
              <a:t>- https://github.com/Jehu-Lara/manufacturing-rag-assistant/actions/runs/33279877573</a:t>
            </a:r>
          </a:p>
          <a:p xmlns:a="http://schemas.openxmlformats.org/drawingml/2006/main">
            <a:r>
              <a:t>- Scope boundaries supplied and approved by the project owner for portfolio publication.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8a201900a48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503433c3fd427d" /><Relationship Type="http://schemas.openxmlformats.org/officeDocument/2006/relationships/slideLayout" Target="/ppt/slideLayouts/slideLayout1.xml" Id="Rd202dac5862240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02dac5862240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850bef14d419f" /><Relationship Type="http://schemas.openxmlformats.org/officeDocument/2006/relationships/image" Target="/ppt/media/image.jpeg" Id="Rd2dc68c5b44b4754" /><Relationship Type="http://schemas.openxmlformats.org/officeDocument/2006/relationships/notesSlide" Target="/ppt/notesSlides/notesSlide1.xml" Id="Rd13c7fc12a8344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d8a2560dd4296" /><Relationship Type="http://schemas.openxmlformats.org/officeDocument/2006/relationships/notesSlide" Target="/ppt/notesSlides/notesSlide2.xml" Id="R405a6e3a0f5a45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459ef304a434e" /><Relationship Type="http://schemas.openxmlformats.org/officeDocument/2006/relationships/notesSlide" Target="/ppt/notesSlides/notesSlide3.xml" Id="R0899a81ccd164a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63bd699564eae" /><Relationship Type="http://schemas.openxmlformats.org/officeDocument/2006/relationships/image" Target="/ppt/media/image2.jpeg" Id="Re1c90fb5cd2f4c7e" /><Relationship Type="http://schemas.openxmlformats.org/officeDocument/2006/relationships/notesSlide" Target="/ppt/notesSlides/notesSlide4.xml" Id="Rb9d8783e564843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2c0efba164799" /><Relationship Type="http://schemas.openxmlformats.org/officeDocument/2006/relationships/notesSlide" Target="/ppt/notesSlides/notesSlide5.xml" Id="Ra80e8f0ff80b45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d4ac63ffc4775" /><Relationship Type="http://schemas.openxmlformats.org/officeDocument/2006/relationships/image" Target="/ppt/media/image3.jpeg" Id="R8c24d934a43a4124" /><Relationship Type="http://schemas.openxmlformats.org/officeDocument/2006/relationships/notesSlide" Target="/ppt/notesSlides/notesSlide6.xml" Id="R2f95c0de1f1042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0ed873f6eb4e3a" /><Relationship Type="http://schemas.openxmlformats.org/officeDocument/2006/relationships/notesSlide" Target="/ppt/notesSlides/notesSlide7.xml" Id="Rc8b8870f294d4e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3d7baf6ac4acc" /><Relationship Type="http://schemas.openxmlformats.org/officeDocument/2006/relationships/notesSlide" Target="/ppt/notesSlides/notesSlide8.xml" Id="R80a72b6448dc4e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3586f9cea4a89" /><Relationship Type="http://schemas.openxmlformats.org/officeDocument/2006/relationships/image" Target="/ppt/media/image4.jpeg" Id="R489c50bd2a3b4f1e" /><Relationship Type="http://schemas.openxmlformats.org/officeDocument/2006/relationships/notesSlide" Target="/ppt/notesSlides/notesSlide9.xml" Id="R04fa3ba6266542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341ea0c14219" /><Relationship Type="http://schemas.openxmlformats.org/officeDocument/2006/relationships/notesSlide" Target="/ppt/notesSlides/notesSlide10.xml" Id="Rc3db85dc0e9544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9DE92-8AA0-456A-A642-0FECE8C8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4FD1C5"/>
                </a:solidFill>
              </a:defRPr>
            </a:pPr>
            <a:r>
              <a:rPr sz="1200" b="1">
                <a:solidFill>
                  <a:srgbClr val="4FD1C5"/>
                </a:solidFill>
              </a:rPr>
              <a:t>MANUFACTURING RAG ASSISTANT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C2168-BFE5-4F8C-BD56-8DA4A5BC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A RAG demo that</a:t>
            </a:r>
          </a:p>
          <a:p xmlns:a="http://schemas.openxmlformats.org/drawingml/2006/main">
            <a:pPr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shows its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39E4A-729B-4120-8F55-A6CEFC75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47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B7C7D9"/>
                </a:solidFill>
              </a:defRPr>
            </a:pPr>
            <a:r>
              <a:rPr sz="1725">
                <a:solidFill>
                  <a:srgbClr val="B7C7D9"/>
                </a:solidFill>
              </a:rPr>
              <a:t>Controlled manufacturing corpus. Every answer must earn its sources—or refuse.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1DC6D-FF63-4E52-ABE1-482DA393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4FD1C5"/>
                </a:solidFill>
              </a:defRPr>
            </a:pPr>
            <a:r>
              <a:rPr sz="1350" b="1">
                <a:solidFill>
                  <a:srgbClr val="4FD1C5"/>
                </a:solidFill>
              </a:rPr>
              <a:t>14 docs   ·   228 chunks   ·   EN / ES   ·   live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F02D7E-A303-48A0-B8B5-39FA7BD2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14325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04611-A0F7-45DE-A87D-AFA29DBE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33F"/>
                </a:solidFill>
              </a:defRPr>
            </a:pPr>
            <a:r>
              <a:rPr sz="1125" b="1">
                <a:solidFill>
                  <a:srgbClr val="10233F"/>
                </a:solidFill>
              </a:rPr>
              <a:t>FUNCTIONAL DEMO · NOT PRODUCTION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EA3AE-2A8A-4E16-B017-65129C76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50292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c68c5b44b4754"/>
          <a:stretch xmlns:a="http://schemas.openxmlformats.org/drawingml/2006/main"/>
        </p:blipFill>
        <p:spPr>
          <a:xfrm xmlns:a="http://schemas.openxmlformats.org/drawingml/2006/main">
            <a:off x="6667500" y="2199780"/>
            <a:ext cx="4648200" cy="1448790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4E12C-09BC-4140-8561-98198E7D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3FC8-C102-4063-8B45-5F4E0A0D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PUBLIC PORTFOLIO DEMO · EVIDENCE UPDATED SEP 7, 2026</a:t>
            </a:r>
          </a:p>
        </p:txBody>
      </p:sp>
    </p:spTree>
    <p:extLst>
      <p:ext uri="{BB962C8B-B14F-4D97-AF65-F5344CB8AC3E}">
        <p14:creationId xmlns:p14="http://schemas.microsoft.com/office/powerpoint/2010/main" val="4222807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CB840B-7EE6-4AD6-8BC9-01FAEF16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HOW IT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AF5D5-EAE4-41E0-AB48-4ACD85FF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Retrieval and generation stay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1C73D-9BD2-4E67-9B36-83F444E7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2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4EAB-F776-4DB3-B59E-87285DF4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34D18-0B73-4A0D-9CED-C8DBD386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1977D8-3B4C-40B9-9F0E-53926BBC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A263D-3C93-4A3F-9963-4368C397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61954-DDE9-42E7-BD28-AD936975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57450"/>
            <a:ext cx="205740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cxnSp>
        <p:nvCxnSpPr>
          <p:cNvPr id="9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49555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8630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87705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06780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F77C3-CD6C-4EF9-A10A-14353E69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95C5E-71FE-4D4A-872B-E47709D5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Controlled corpus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D44D5-C2DE-43B0-A202-DB962578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9 public + 5 clearly labeled synthetic documents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238C57-EA8E-496D-A89D-3436DAA4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2E2B38-1EAF-46B5-9558-3C376767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Hybrid retrieval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E0C048-D4F8-4037-A348-439A244A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BM25 + BAAI/bge-m3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E0F4A-C6FD-47AC-91F2-714CF261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C78E2-C67B-4808-B08D-D33576B1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Refusal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73D07F-DD0D-44DF-B8AF-D4CC409D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Threshold blocks weak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04512-1A60-4B84-8653-B37AC128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CEB4B-0903-4EA4-A7F4-DE3FC446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External LLM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5B972A-837B-4DF6-A766-FB538A5B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Generates only after retrieval passes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D0BEA5-D5C8-408E-B2C3-7764608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5860F1-8A9E-415C-951C-222335C1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289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Answer + sources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A56F9-4A0B-49B9-824D-12CC6C95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5623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Uncited output becomes a refusal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A454E6-726D-414D-A73D-9A9591CF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B7C7D9"/>
                </a:solidFill>
              </a:defRPr>
            </a:pPr>
            <a:r>
              <a:rPr sz="1650">
                <a:solidFill>
                  <a:srgbClr val="B7C7D9"/>
                </a:solidFill>
              </a:rPr>
              <a:t>Public nginx exposes the UI plus /health and /ready. The internal query route and API documentation return 404 externally.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477FB-4DD0-442D-8EF8-DAAEC571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171675-2C8D-487D-A572-88A55C99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PUBLIC PORTFOLIO DEMO · EVIDENCE UPDATED SEP 7, 2026</a:t>
            </a:r>
          </a:p>
        </p:txBody>
      </p:sp>
    </p:spTree>
    <p:extLst>
      <p:ext uri="{BB962C8B-B14F-4D97-AF65-F5344CB8AC3E}">
        <p14:creationId xmlns:p14="http://schemas.microsoft.com/office/powerpoint/2010/main" val="6848856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49E864-F990-4961-ABAF-4C6486D0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51BFCA-4526-449D-9405-5F967DB3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Evaluate retrieval and generation separately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409EF-BB49-4FD4-A842-86633698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3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9023E-4C2F-44B9-87F1-93826DF4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6831C-9F3F-4120-BFFD-B3C0A773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Recall@5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9E990-78E5-412E-BE8F-C0A38EC7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0.887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B7C90-BE9B-41DF-9AB3-D3EE0523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RETRIEVAL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20E8B2-38A4-471F-9665-A7E8391F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FDADE-BC37-4A80-B1F6-EBFD5CC2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Correct refusal*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E0769-0375-42A9-BBA7-D7E906FC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0.900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A7339-84E1-46D9-B970-3D124141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GUARDRAIL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5BE3F-C990-41B3-A5C7-5CB336CF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BA20B-992F-4B01-8724-C0F2D813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Faithfulness*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8B360-577F-455C-97BC-D02FAD2F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0.967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0657F5-E824-41AF-870D-C9A1993B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29 / 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71733B-53EE-447E-8D36-3CECB2FA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3D5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E0777-ADCB-492A-A7CB-2386D624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Citation accuracy*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A2E21-359E-45B2-8B03-44A4FFB0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0233F"/>
                </a:solidFill>
              </a:defRPr>
            </a:pPr>
            <a:r>
              <a:rPr sz="3450" b="1">
                <a:solidFill>
                  <a:srgbClr val="10233F"/>
                </a:solidFill>
              </a:rPr>
              <a:t>0.767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9DD262-0CAF-472B-B90D-A64D673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BELOW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6AF2C-53F2-4D9A-BC8F-7D93CB48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62500"/>
            <a:ext cx="91059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74B75A-6BFE-46DA-935F-6722C2D0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010150"/>
            <a:ext cx="849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Current retrieval: Recall@5 0.887 (ES 0.844, n=32; EN 0.917, n=48). *Generation metrics are historical raw-v1 / eval_set v1.0.0 measurements.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155F8B-981B-4EF8-A03E-84D060BA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06AFA0-BD1B-4D50-9313-B0B8D83B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PUBLIC PORTFOLIO DEMO · EVIDENCE UPDATED SEP 7, 2026</a:t>
            </a:r>
          </a:p>
        </p:txBody>
      </p:sp>
    </p:spTree>
    <p:extLst>
      <p:ext uri="{BB962C8B-B14F-4D97-AF65-F5344CB8AC3E}">
        <p14:creationId xmlns:p14="http://schemas.microsoft.com/office/powerpoint/2010/main" val="4203039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5A086-05D9-4600-A507-F7995059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OBSERVED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1FBBD-C379-4AAB-89EB-F7D379F9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One concise answer keeps its source in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2AA21-FE25-43B2-8573-118C37DB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4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279F9-03D3-41AF-9C0F-13ED952E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8572500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90fb5cd2f4c7e"/>
          <a:stretch xmlns:a="http://schemas.openxmlformats.org/drawingml/2006/main"/>
        </p:blipFill>
        <p:spPr>
          <a:xfrm xmlns:a="http://schemas.openxmlformats.org/drawingml/2006/main">
            <a:off x="876300" y="2333378"/>
            <a:ext cx="8191500" cy="2553195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A97D4-C7C6-48B6-B819-528606FF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097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4FD1C5"/>
                </a:solidFill>
              </a:defRPr>
            </a:pPr>
            <a:r>
              <a:rPr sz="1050" b="1">
                <a:solidFill>
                  <a:srgbClr val="4FD1C5"/>
                </a:solidFill>
              </a:rPr>
              <a:t>DIRECT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89821-3B62-42B6-B2DB-70740644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6950"/>
            <a:ext cx="1943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The answer is one sentence. The governing source stays readable beside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552697-9EC6-4DFC-8935-7B13E3A9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0000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B7C7D9"/>
                </a:solidFill>
              </a:defRPr>
            </a:pPr>
            <a:r>
              <a:rPr sz="1275">
                <a:solidFill>
                  <a:srgbClr val="B7C7D9"/>
                </a:solidFill>
              </a:rPr>
              <a:t>Question: What is the difference between NPSHA and NPSHR?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22C1D-E4FC-4A2E-A6C3-F770F34B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72050"/>
            <a:ext cx="19431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18410-9136-4E93-89A2-AAC2CDC7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530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33F"/>
                </a:solidFill>
              </a:defRPr>
            </a:pPr>
            <a:r>
              <a:rPr sz="1200" b="1">
                <a:solidFill>
                  <a:srgbClr val="10233F"/>
                </a:solidFill>
              </a:rPr>
              <a:t>Captured Aug 29,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0BAEBD-64C5-49DD-8244-35866670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12CBC-C064-4BAA-AA2C-21A6DC4A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PUBLIC PORTFOLIO DEMO · EVIDENCE UPDATED SEP 7, 2026</a:t>
            </a:r>
          </a:p>
        </p:txBody>
      </p:sp>
    </p:spTree>
    <p:extLst>
      <p:ext uri="{BB962C8B-B14F-4D97-AF65-F5344CB8AC3E}">
        <p14:creationId xmlns:p14="http://schemas.microsoft.com/office/powerpoint/2010/main" val="924821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672489-CDCB-4846-BA48-9F421977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PORTFOLIO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F2FD4-26FD-444B-A073-800AFDC3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The demo is credible because its limits stay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02BA0-932D-48FA-929D-1C715412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5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277D5-712E-4BE2-A0AF-3B7223E9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4FD1C5"/>
                </a:solidFill>
              </a:defRPr>
            </a:pPr>
            <a:r>
              <a:rPr sz="1275" b="1">
                <a:solidFill>
                  <a:srgbClr val="4FD1C5"/>
                </a:solidFill>
              </a:rPr>
              <a:t>SUPPORTED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0FC3F-DDAE-480D-B393-D85F16EF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52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3D59A"/>
                </a:solidFill>
              </a:defRPr>
            </a:pPr>
            <a:r>
              <a:rPr sz="1275" b="1">
                <a:solidFill>
                  <a:srgbClr val="F3D59A"/>
                </a:solidFill>
              </a:rPr>
              <a:t>NOT ESTABLISHED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B3609-BD2C-45F4-BE49-5C1A51D5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90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75"/>
          </a:solidFill>
          <a:ln xmlns:a="http://schemas.openxmlformats.org/drawingml/2006/main" w="0">
            <a:solidFill>
              <a:srgbClr val="35537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5E998-994D-44E0-812B-6C061EAA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Public bilingual web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7F3E1-792B-4936-9939-A598B5D2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Controlled manufacturing corpus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8E5541-BED5-4B1A-BEBE-307DC304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Hybrid semantic + lexical retrieval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75923-CBD5-4D1E-B91D-BBFB5486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Source citations and refusal 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D8F21-45F5-4F95-91F4-4872E263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Containerized, SHA-gated deployment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F1BB1-7F70-4C1A-9132-32BA5DE9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Protected internal API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E5DDF-E57F-4BB8-A241-8103BC5B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479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Production readiness or SLA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774B3-55BE-4A2D-A7AF-B44F7B7B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622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Real factory or client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AC637-014F-4723-A8B3-5B6B5D35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Industrial performance or 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6802B-39AB-48D5-8D56-2CF9E5C4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909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Business savings or ROI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5F4F9-8599-4AA9-8005-ABA8AA9C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053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Error elimination or causal impact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FEE6C8-A06D-48C9-99B3-1BF8E7C1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196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Coverage beyond the controlled corpus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4F45F-EBA2-48BB-828F-797C9395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76900"/>
            <a:ext cx="64770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030D02-E8C6-47E0-9A77-6D657A7E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388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F"/>
                </a:solidFill>
              </a:defRPr>
            </a:pPr>
            <a:r>
              <a:rPr sz="1350" b="1">
                <a:solidFill>
                  <a:srgbClr val="10233F"/>
                </a:solidFill>
              </a:rPr>
              <a:t>Position it as a functional public demo — never as a production system.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B5B009-0B4B-476C-ABC6-56F9D004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B28783-0634-4641-B08B-07A65692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PUBLIC PORTFOLIO DEMO · EVIDENCE UPDATED SEP 7, 2026</a:t>
            </a:r>
          </a:p>
        </p:txBody>
      </p:sp>
    </p:spTree>
    <p:extLst>
      <p:ext uri="{BB962C8B-B14F-4D97-AF65-F5344CB8AC3E}">
        <p14:creationId xmlns:p14="http://schemas.microsoft.com/office/powerpoint/2010/main" val="898719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BDAE5-2C96-426D-B0B3-027206B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4FD1C5"/>
                </a:solidFill>
              </a:defRPr>
            </a:pPr>
            <a:r>
              <a:rPr sz="1200" b="1">
                <a:solidFill>
                  <a:srgbClr val="4FD1C5"/>
                </a:solidFill>
              </a:rPr>
              <a:t>ASISTENTE RAG DE MANUFACTURA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B6888-53FE-4A9C-8538-F9C5FBC0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Una demo RAG que</a:t>
            </a:r>
          </a:p>
          <a:p xmlns:a="http://schemas.openxmlformats.org/drawingml/2006/main">
            <a:pPr>
              <a:buNone/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muestra su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52693-66A5-4D43-AFC2-8D8B9EBC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47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B7C7D9"/>
                </a:solidFill>
              </a:defRPr>
            </a:pPr>
            <a:r>
              <a:rPr sz="1725">
                <a:solidFill>
                  <a:srgbClr val="B7C7D9"/>
                </a:solidFill>
              </a:rPr>
              <a:t>Corpus controlado de manufactura. Cada respuesta debe justificar sus fuentes o rechazar.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89450-69A5-4996-9D99-38FEE692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47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4FD1C5"/>
                </a:solidFill>
              </a:defRPr>
            </a:pPr>
            <a:r>
              <a:rPr sz="1350" b="1">
                <a:solidFill>
                  <a:srgbClr val="4FD1C5"/>
                </a:solidFill>
              </a:rPr>
              <a:t>14 docs   ·   228 fragmentos   ·   EN / ES   ·   en vivo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351AF-7442-47D0-9C0A-FDAA0055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314325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6D14C-0B1F-4DD0-B36F-8A85C387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0233F"/>
                </a:solidFill>
              </a:defRPr>
            </a:pPr>
            <a:r>
              <a:rPr sz="1125" b="1">
                <a:solidFill>
                  <a:srgbClr val="10233F"/>
                </a:solidFill>
              </a:rPr>
              <a:t>DEMO FUNCIONAL · NO PRODUCCIÓN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2136C-672B-4E82-9B96-C61E097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50292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4d934a43a4124"/>
          <a:stretch xmlns:a="http://schemas.openxmlformats.org/drawingml/2006/main"/>
        </p:blipFill>
        <p:spPr>
          <a:xfrm xmlns:a="http://schemas.openxmlformats.org/drawingml/2006/main">
            <a:off x="6667500" y="2199780"/>
            <a:ext cx="4648200" cy="1448790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34853-CC2F-4F3F-BB98-AC1B986E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4ABAA-B82E-41B9-8820-1E9EFD45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DEMO PÚBLICA DE PORTAFOLIO · EVIDENCIA ACTUALIZADA 7 SEP 2026</a:t>
            </a:r>
          </a:p>
        </p:txBody>
      </p:sp>
    </p:spTree>
    <p:extLst>
      <p:ext uri="{BB962C8B-B14F-4D97-AF65-F5344CB8AC3E}">
        <p14:creationId xmlns:p14="http://schemas.microsoft.com/office/powerpoint/2010/main" val="18978139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511703-C421-4581-A004-0EB1E976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CÓMO FUNCIONA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8CC14-3C74-46A5-BFEA-E8CE301A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La recuperación y la generación permanecen inspeccionables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6B762-F14C-41F6-9E08-EEA3DF89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2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465B4-6E6B-4CB2-955D-5CC19174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7A036-BAD4-49D0-978D-07BBB15B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49E9F-1204-45B6-85A4-DF279926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6B7AA-CB10-4476-B37A-D4F64F0F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57450"/>
            <a:ext cx="180975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52613-4B18-467F-845F-E767A5C8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57450"/>
            <a:ext cx="2057400" cy="17526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cxnSp>
        <p:nvCxnSpPr>
          <p:cNvPr id="9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49555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8630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87705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cxnSp>
        <p:nvCxnSpPr>
          <p:cNvPr id="10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067800" y="33337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FD1C5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AC051-AA63-48D9-B430-4AB7CC81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5A4BCF-FD1D-4224-8C62-B279F5FA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Corpus controlado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4486A-399C-4A7F-90A0-BB6603FF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9 públicos + 5 sintéticos etiquetados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3B5C3E-9B0A-4DAA-892C-7DEA1799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EE67F-E988-4CE0-977B-BAD0BDE0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Recuperación híbrida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EA1779-68EB-496D-8641-EC10D665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BM25 + BAAI/bge-m3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145397-009B-49E6-A9DD-AB2902C6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C7B30-D8C9-4AAC-824A-3F441F68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Gate de rechazo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C9AF89-AA61-491D-834C-C2BD6C59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El umbral bloquea evidencia débil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9470B-1F4C-42F8-88B6-30ABF604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A71814-E763-4779-A636-B85DF8D7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0289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LLM externo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6A95F6-AA95-45A1-9DB8-B920D7E0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Genera solo después de superar la recuperación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BEE6CB-CA02-4AF2-8010-CDA45ED0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479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6B62"/>
                </a:solidFill>
              </a:defRPr>
            </a:pPr>
            <a:r>
              <a:rPr sz="1200" b="1">
                <a:solidFill>
                  <a:srgbClr val="006B62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91197C-D48B-41CB-B32B-0D82D29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28950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0233F"/>
                </a:solidFill>
              </a:defRPr>
            </a:pPr>
            <a:r>
              <a:rPr sz="1575" b="1">
                <a:solidFill>
                  <a:srgbClr val="10233F"/>
                </a:solidFill>
              </a:rPr>
              <a:t>Respuesta + fuentes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E6FD2B-2CD9-4357-BFD1-7236A5EB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562350"/>
            <a:ext cx="1676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5E7390"/>
                </a:solidFill>
              </a:defRPr>
            </a:pPr>
            <a:r>
              <a:rPr sz="1125">
                <a:solidFill>
                  <a:srgbClr val="5E7390"/>
                </a:solidFill>
              </a:rPr>
              <a:t>Una salida sin citas se convierte en rechazo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50B0A8-5ACD-4753-983A-4D40A2F0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B7C7D9"/>
                </a:solidFill>
              </a:defRPr>
            </a:pPr>
            <a:r>
              <a:rPr sz="1650">
                <a:solidFill>
                  <a:srgbClr val="B7C7D9"/>
                </a:solidFill>
              </a:rPr>
              <a:t>El nginx público expone la interfaz junto con /health y /ready. La ruta interna de consulta y la documentación API devuelven 404 externamente.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B8195B-A3C0-4BBE-AD0A-F3EF865C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7AF5E0-A9B9-445B-BADC-8F3DFAB2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DEMO PÚBLICA DE PORTAFOLIO · EVIDENCIA ACTUALIZADA 7 SEP 2026</a:t>
            </a:r>
          </a:p>
        </p:txBody>
      </p:sp>
    </p:spTree>
    <p:extLst>
      <p:ext uri="{BB962C8B-B14F-4D97-AF65-F5344CB8AC3E}">
        <p14:creationId xmlns:p14="http://schemas.microsoft.com/office/powerpoint/2010/main" val="21093884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E67EB8-734E-4FA8-BAAF-26BA28DC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EVALUACIÓN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4AE9E-BDB3-4BA5-ADD2-5CBABF91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Evalúa recuperación y generación por separado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F099A-244A-4664-9867-6B2708FB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3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17487-DD2E-4B2F-B49C-EC7A5536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274E8-F4B3-436F-82E6-B73912E7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Recall@5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201F0-ED31-4BF0-A3ED-D8FA6496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0.887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1308D-2D20-45B3-BBB2-9372D001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RECUPERACIÓN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D5AE5-B541-480B-82B6-61C69F5C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B63BC-E053-4ABE-9A45-2E9C10A9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Rechazo correcto*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CC8E07-53C4-44DF-A96C-18BF52C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0.900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F8C5C-0BF3-4599-89D5-0A89F013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9DBF7-A622-4355-B136-1A9D6CF8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EC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12C340-00C7-4394-8DB9-A781F974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Fidelidad*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28A9A-BF5D-44F2-BB64-7646D677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6B62"/>
                </a:solidFill>
              </a:defRPr>
            </a:pPr>
            <a:r>
              <a:rPr sz="3450" b="1">
                <a:solidFill>
                  <a:srgbClr val="006B62"/>
                </a:solidFill>
              </a:rPr>
              <a:t>0.967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F5CF44-5B20-4944-A181-BE9EBDE8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29 / 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0ECB69-83DD-45AF-814D-5871F03F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66900"/>
            <a:ext cx="24003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3D5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52EED-03E0-4983-981A-8CEDA211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33600"/>
            <a:ext cx="1981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0233F"/>
                </a:solidFill>
              </a:defRPr>
            </a:pPr>
            <a:r>
              <a:rPr sz="1425" b="1">
                <a:solidFill>
                  <a:srgbClr val="10233F"/>
                </a:solidFill>
              </a:rPr>
              <a:t>Precisión de citas*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F4A4DA-8BE4-4083-AA4C-B47C2FC4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98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0233F"/>
                </a:solidFill>
              </a:defRPr>
            </a:pPr>
            <a:r>
              <a:rPr sz="3450" b="1">
                <a:solidFill>
                  <a:srgbClr val="10233F"/>
                </a:solidFill>
              </a:rPr>
              <a:t>0.767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B5D3CB-F776-4A67-8585-A9F1CA92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385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E7390"/>
                </a:solidFill>
              </a:defRPr>
            </a:pPr>
            <a:r>
              <a:rPr sz="1050" b="1">
                <a:solidFill>
                  <a:srgbClr val="5E7390"/>
                </a:solidFill>
              </a:rPr>
              <a:t>BAJO LA META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8EA49-ECED-4152-90FB-46F74D4B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62500"/>
            <a:ext cx="91059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6961BF-F376-43B8-9238-710AD16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010150"/>
            <a:ext cx="849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Recuperación actual: Recall@5 0.887 (ES 0.844, n=32; EN 0.917, n=48). *Generación conserva mediciones históricas de raw-v1 / eval_set v1.0.0.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E1300B-B975-46C9-B503-28C091F2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9C9B62-D7A3-4D93-9027-2EA1635B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DEMO PÚBLICA DE PORTAFOLIO · EVIDENCIA ACTUALIZADA 7 SEP 2026</a:t>
            </a:r>
          </a:p>
        </p:txBody>
      </p:sp>
    </p:spTree>
    <p:extLst>
      <p:ext uri="{BB962C8B-B14F-4D97-AF65-F5344CB8AC3E}">
        <p14:creationId xmlns:p14="http://schemas.microsoft.com/office/powerpoint/2010/main" val="9792129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4C7AE-9421-4ABF-86C6-07E6A580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OBSERVADO EN VIVO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D41F0-D0DD-437F-AF23-DF21CE70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Respuesta breve. Fuente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ED0D1-431F-4334-A0D2-CB443740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4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D52FF-22B3-4E36-8FDE-57842D1B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8572500" cy="3905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0233F"/>
          </a:solidFill>
          <a:ln xmlns:a="http://schemas.openxmlformats.org/drawingml/2006/main" w="9525">
            <a:solidFill>
              <a:srgbClr val="355375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c50bd2a3b4f1e"/>
          <a:stretch xmlns:a="http://schemas.openxmlformats.org/drawingml/2006/main"/>
        </p:blipFill>
        <p:spPr>
          <a:xfrm xmlns:a="http://schemas.openxmlformats.org/drawingml/2006/main">
            <a:off x="876300" y="2333378"/>
            <a:ext cx="8191500" cy="2553195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A3733-FD7A-4F47-A81E-20F01A69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097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4FD1C5"/>
                </a:solidFill>
              </a:defRPr>
            </a:pPr>
            <a:r>
              <a:rPr sz="1050" b="1">
                <a:solidFill>
                  <a:srgbClr val="4FD1C5"/>
                </a:solidFill>
              </a:rPr>
              <a:t>COMPROBACIÓN DIRECTA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377EA-6E5E-4A5E-A598-C33AF883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6950"/>
            <a:ext cx="1943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La respuesta ocupa una frase. La fuente normativa permanece legible junto a ella.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FA58B-1A0A-4F8E-AE93-0CFC5067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0000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B7C7D9"/>
                </a:solidFill>
              </a:defRPr>
            </a:pPr>
            <a:r>
              <a:rPr sz="1275">
                <a:solidFill>
                  <a:srgbClr val="B7C7D9"/>
                </a:solidFill>
              </a:rPr>
              <a:t>Pregunta: ¿Cuál es la diferencia entre NPSHA y NPSHR?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D5F79-113E-43CD-B20B-A9444223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972050"/>
            <a:ext cx="19431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30DC9-80AB-4A06-BAD5-4447AE23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530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33F"/>
                </a:solidFill>
              </a:defRPr>
            </a:pPr>
            <a:r>
              <a:rPr sz="1200" b="1">
                <a:solidFill>
                  <a:srgbClr val="10233F"/>
                </a:solidFill>
              </a:rPr>
              <a:t>Capturado 29 ago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0EF72-0DD1-4DFF-B086-A05EB5AE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1F22F3-C132-4FDA-AF23-6EDDFEE8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DEMO PÚBLICA DE PORTAFOLIO · EVIDENCIA ACTUALIZADA 7 SEP 2026</a:t>
            </a:r>
          </a:p>
        </p:txBody>
      </p:sp>
    </p:spTree>
    <p:extLst>
      <p:ext uri="{BB962C8B-B14F-4D97-AF65-F5344CB8AC3E}">
        <p14:creationId xmlns:p14="http://schemas.microsoft.com/office/powerpoint/2010/main" val="17329777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1EA1E2-D309-4589-8146-0782A639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FD1C5"/>
                </a:solidFill>
              </a:defRPr>
            </a:pPr>
            <a:r>
              <a:rPr sz="1125" b="1">
                <a:solidFill>
                  <a:srgbClr val="4FD1C5"/>
                </a:solidFill>
              </a:rPr>
              <a:t>LÍMITE DE PORTAFOLIO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A7592-F058-4B91-B552-B04C43AE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La demo es creíble porque mantiene visibles sus límites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AF4B3-EB3E-447B-8AE1-3AEFB77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43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B7C7D9"/>
                </a:solidFill>
              </a:defRPr>
            </a:pPr>
            <a:r>
              <a:rPr sz="1050" b="1">
                <a:solidFill>
                  <a:srgbClr val="B7C7D9"/>
                </a:solidFill>
              </a:rPr>
              <a:t>5 /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8C5DF-580B-4399-9ACD-C127EB47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4FD1C5"/>
                </a:solidFill>
              </a:defRPr>
            </a:pPr>
            <a:r>
              <a:rPr sz="1275" b="1">
                <a:solidFill>
                  <a:srgbClr val="4FD1C5"/>
                </a:solidFill>
              </a:rPr>
              <a:t>RESPALDADO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3A1D4-8603-43DA-A4B5-D775DC11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52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3D59A"/>
                </a:solidFill>
              </a:defRPr>
            </a:pPr>
            <a:r>
              <a:rPr sz="1275" b="1">
                <a:solidFill>
                  <a:srgbClr val="F3D59A"/>
                </a:solidFill>
              </a:rPr>
              <a:t>NO ESTABLECIDO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6E487-00B4-41DE-B2D2-65A5FE86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190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75"/>
          </a:solidFill>
          <a:ln xmlns:a="http://schemas.openxmlformats.org/drawingml/2006/main" w="0">
            <a:solidFill>
              <a:srgbClr val="35537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88B40-D67A-4171-9B83-D281701F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Demo web pública y bilingüe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39140-C5EB-47CC-A51F-132F78CD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Corpus controlado de manufactura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8B458-CDCE-42B4-92E0-C54567F9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Recuperación semántica + léxica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44749-167C-4C27-A9E5-5AFFB0D6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Citas de fuentes y comportamiento de rechazo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5E6B6-39A4-4986-BC37-BC389219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Despliegue en contenedor controlado por SHA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F69F8-E469-4BF6-B6BE-2F26574F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✓  Superficie API interna protegida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C1795-63B8-4617-9F50-D62105B1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479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Preparación para producción o SLA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2DCB8-6BDD-4B3B-9A2A-5716AAAB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622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Despliegue real en fábrica o cliente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042C06-5A6F-455F-B5A7-51BF9424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Desempeño o escala industrial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A7550D-4171-4217-9324-CE3397FB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909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Ahorros empresariales o ROI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D12F81-2D62-4048-A538-B6BB442B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053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Eliminación de errores o impacto causal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F54B35-B165-45B4-A101-40E87DD0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196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B7C7D9"/>
                </a:solidFill>
              </a:defRPr>
            </a:pPr>
            <a:r>
              <a:rPr sz="1500">
                <a:solidFill>
                  <a:srgbClr val="B7C7D9"/>
                </a:solidFill>
              </a:rPr>
              <a:t>—  Cobertura fuera del corpus controlado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AEF96A-C769-4B27-8E8B-3AF74239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76900"/>
            <a:ext cx="64770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8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DEE74B-F212-4C93-82D0-2974F995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388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33F"/>
                </a:solidFill>
              </a:defRPr>
            </a:pPr>
            <a:r>
              <a:rPr sz="1350" b="1">
                <a:solidFill>
                  <a:srgbClr val="10233F"/>
                </a:solidFill>
              </a:rPr>
              <a:t>Preséntalo como demo pública funcional — nunca como sistema en producción.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ED1F5-D506-4BA1-91A9-1589AFB3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C5"/>
          </a:solidFill>
          <a:ln xmlns:a="http://schemas.openxmlformats.org/drawingml/2006/main" w="0">
            <a:solidFill>
              <a:srgbClr val="4FD1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E30FB-3AEB-47A7-823C-E760A009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B7C7D9"/>
                </a:solidFill>
              </a:defRPr>
            </a:pPr>
            <a:r>
              <a:rPr sz="900" b="1">
                <a:solidFill>
                  <a:srgbClr val="B7C7D9"/>
                </a:solidFill>
              </a:rPr>
              <a:t>DEMO PÚBLICA DE PORTAFOLIO · EVIDENCIA ACTUALIZADA 7 SEP 2026</a:t>
            </a:r>
          </a:p>
        </p:txBody>
      </p:sp>
    </p:spTree>
    <p:extLst>
      <p:ext uri="{BB962C8B-B14F-4D97-AF65-F5344CB8AC3E}">
        <p14:creationId xmlns:p14="http://schemas.microsoft.com/office/powerpoint/2010/main" val="1870514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2026-09-08T02:06:38.0650000Z</dcterms:created>
  <dcterms:modified xsi:type="dcterms:W3CDTF">2026-09-08T02:06:38.0650000Z</dcterms:modified>
</coreProperties>
</file>